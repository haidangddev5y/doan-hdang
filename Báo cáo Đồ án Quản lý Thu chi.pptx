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Calibri" panose="020F0502020204030204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</p:embeddedFont>
    <p:embeddedFont>
      <p:font typeface="Inter" panose="02000503000000020004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8763DA0-0CFD-4156-A326-4E6B37CB821A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8" name="Google Shape;288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6.png"/><Relationship Id="rId2" Type="http://schemas.openxmlformats.org/officeDocument/2006/relationships/image" Target="../media/image5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86000" y="2769840"/>
            <a:ext cx="3667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38875" y="2769840"/>
            <a:ext cx="3667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286000" y="3865215"/>
            <a:ext cx="3667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38875" y="3865215"/>
            <a:ext cx="3667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95300" y="762000"/>
            <a:ext cx="11201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QUẢN LÝ THU CHI CÁ NHÂN</a:t>
            </a:r>
            <a:endParaRPr lang="en-US" sz="4800" b="1" i="0" u="none" strike="noStrike" cap="none">
              <a:solidFill>
                <a:srgbClr val="2ECC7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1771650"/>
            <a:ext cx="1066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Đồ án </a:t>
            </a:r>
            <a:r>
              <a:rPr lang="en-US" sz="21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xây dựng ứng dụng quản lý thu/chi</a:t>
            </a:r>
            <a:r>
              <a:rPr lang="en-US" sz="21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- WinForms C#</a:t>
            </a:r>
            <a:endParaRPr lang="en-US" sz="21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269450" y="3055495"/>
            <a:ext cx="3940800" cy="8097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lin ang="5400012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ECC7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SINH VIÊN THỰC HIỆN</a:t>
            </a:r>
            <a:endParaRPr sz="2200" b="1">
              <a:solidFill>
                <a:srgbClr val="2ECC7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A86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Đào Hải Đăng</a:t>
            </a:r>
            <a:endParaRPr sz="2000" b="1">
              <a:solidFill>
                <a:srgbClr val="4A86E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592630" y="2992630"/>
            <a:ext cx="3940800" cy="8724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ECC7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NGHÀNH HỌC</a:t>
            </a:r>
            <a:br>
              <a:rPr lang="en-US" sz="2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1">
                <a:solidFill>
                  <a:srgbClr val="4A86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Kỹ thuật phần mềm</a:t>
            </a:r>
            <a:endParaRPr sz="2000" b="1">
              <a:solidFill>
                <a:srgbClr val="4A86E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269450" y="5041680"/>
            <a:ext cx="3940800" cy="9240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ECC7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CÔNG NGHỆ CỐT LÕI</a:t>
            </a:r>
            <a:endParaRPr sz="2200" b="1">
              <a:solidFill>
                <a:srgbClr val="2ECC7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A86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C# .NET &amp; SQL Server</a:t>
            </a:r>
            <a:endParaRPr sz="2000" b="1">
              <a:solidFill>
                <a:srgbClr val="4A86E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479600" y="5045485"/>
            <a:ext cx="3940800" cy="9240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ECC7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MÔ HÌNH XÂY DỰNG</a:t>
            </a:r>
            <a:br>
              <a:rPr lang="en-US" sz="2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1">
                <a:solidFill>
                  <a:srgbClr val="4A86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3-Layer Architecture (UI-BUS-DAL)</a:t>
            </a:r>
            <a:endParaRPr sz="2000" b="1">
              <a:solidFill>
                <a:srgbClr val="4A86E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04875" y="1885950"/>
            <a:ext cx="50007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Vấn đề thực tế: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Nhu cầu kiểm soát tài chính cá nhân ngày càng lớn để tránh lạm phát chi tiêu.</a:t>
            </a:r>
            <a:endParaRPr sz="1800"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196638"/>
            <a:ext cx="50007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Hạn chế cũ: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Ghi chép sổ tay hay Excel thường gây nhầm lẫn, mất thời gian và khó thống kê trực quan.</a:t>
            </a:r>
            <a:endParaRPr sz="1800"/>
          </a:p>
        </p:txBody>
      </p:sp>
      <p:sp>
        <p:nvSpPr>
          <p:cNvPr id="103" name="Google Shape;103;p14"/>
          <p:cNvSpPr txBox="1"/>
          <p:nvPr/>
        </p:nvSpPr>
        <p:spPr>
          <a:xfrm>
            <a:off x="904838" y="4507325"/>
            <a:ext cx="50007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Giải pháp: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Ứng dụng</a:t>
            </a:r>
            <a:r>
              <a:rPr lang="en-US" sz="1800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quản lý thu/chi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giúp lưu trữ tập trung, </a:t>
            </a:r>
            <a:r>
              <a:rPr lang="en-US" sz="1800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dễ dàng quản lý và bảo mật.</a:t>
            </a:r>
            <a:endParaRPr sz="180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28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75" y="321807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25" y="45073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LÝ DO CHỌN ĐỀ TÀI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048375" y="1385881"/>
            <a:ext cx="5715000" cy="449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47925"/>
            <a:ext cx="3492550" cy="33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800" y="2447925"/>
            <a:ext cx="3492550" cy="33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100" y="2447925"/>
            <a:ext cx="3492550" cy="33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57250" y="3390900"/>
            <a:ext cx="306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Quản lý hệ thống</a:t>
            </a:r>
            <a:endParaRPr sz="2200"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3857625"/>
            <a:ext cx="29211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Xây dựng module đăng ký, đăng nhập và phân quyền Admin/User an toàn.</a:t>
            </a:r>
            <a:endParaRPr sz="2000"/>
          </a:p>
        </p:txBody>
      </p:sp>
      <p:sp>
        <p:nvSpPr>
          <p:cNvPr id="120" name="Google Shape;120;p15"/>
          <p:cNvSpPr txBox="1"/>
          <p:nvPr/>
        </p:nvSpPr>
        <p:spPr>
          <a:xfrm>
            <a:off x="4635549" y="3390900"/>
            <a:ext cx="306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Nghiệp vụ cốt lõi</a:t>
            </a:r>
            <a:endParaRPr sz="2200"/>
          </a:p>
        </p:txBody>
      </p:sp>
      <p:sp>
        <p:nvSpPr>
          <p:cNvPr id="121" name="Google Shape;121;p15"/>
          <p:cNvSpPr txBox="1"/>
          <p:nvPr/>
        </p:nvSpPr>
        <p:spPr>
          <a:xfrm>
            <a:off x="4635549" y="3857625"/>
            <a:ext cx="29211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Xử lý giao dịch thu chi, quản lý ví tiền và phân loại danh mục thông minh.</a:t>
            </a:r>
            <a:endParaRPr sz="2000"/>
          </a:p>
        </p:txBody>
      </p:sp>
      <p:sp>
        <p:nvSpPr>
          <p:cNvPr id="122" name="Google Shape;122;p15"/>
          <p:cNvSpPr txBox="1"/>
          <p:nvPr/>
        </p:nvSpPr>
        <p:spPr>
          <a:xfrm>
            <a:off x="8413849" y="3390900"/>
            <a:ext cx="306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Kiểm soát &amp; Báo cáo</a:t>
            </a:r>
            <a:endParaRPr sz="2200"/>
          </a:p>
        </p:txBody>
      </p:sp>
      <p:sp>
        <p:nvSpPr>
          <p:cNvPr id="123" name="Google Shape;123;p15"/>
          <p:cNvSpPr txBox="1"/>
          <p:nvPr/>
        </p:nvSpPr>
        <p:spPr>
          <a:xfrm>
            <a:off x="8413849" y="3857625"/>
            <a:ext cx="29211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Thiết lập ngân sách, cảnh báo chi tiêu vượt mức và thống kê bằng biểu đồ.</a:t>
            </a:r>
            <a:endParaRPr sz="2000"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27717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35549" y="2771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13849" y="27717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MỤC TIÊU ĐỀ TÀI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09838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55282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41007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5267325"/>
            <a:ext cx="5334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1736813"/>
            <a:ext cx="533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Kiến trúc 3 lớp (3-Layer):</a:t>
            </a:r>
            <a:endParaRPr sz="2000"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104725" y="1208625"/>
            <a:ext cx="5806550" cy="34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286500" y="4886331"/>
            <a:ext cx="533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Sử dụng </a:t>
            </a:r>
            <a:r>
              <a:rPr lang="en-US" sz="16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Stored Procedure</a:t>
            </a:r>
            <a:r>
              <a:rPr lang="en-US" sz="16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để tối ưu hóa hiệu suất và bảo mật logic nghiệp vụ tại database.</a:t>
            </a:r>
            <a:endParaRPr sz="1600"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181350" y="319326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181350" y="41433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181350" y="500062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CÔNG NGHỆ &amp; MÔ HÌNH HỆ THỐNG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571500" y="2157412"/>
            <a:ext cx="5334000" cy="343837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461650" y="2157412"/>
          <a:ext cx="6259925" cy="3438325"/>
        </p:xfrm>
        <a:graphic>
          <a:graphicData uri="http://schemas.openxmlformats.org/drawingml/2006/table">
            <a:tbl>
              <a:tblPr firstRow="1" bandRow="1">
                <a:noFill/>
                <a:tableStyleId>{98763DA0-0CFD-4156-A326-4E6B37CB821A}</a:tableStyleId>
              </a:tblPr>
              <a:tblGrid>
                <a:gridCol w="1558525"/>
                <a:gridCol w="4701400"/>
              </a:tblGrid>
              <a:tr h="57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Bảng chính</a:t>
                      </a:r>
                      <a:endParaRPr sz="2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Chức năng</a:t>
                      </a:r>
                      <a:endParaRPr sz="2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</a:tr>
              <a:tr h="57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TaiKhoan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Lưu User, Pass, VaiTro (Admin/User)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ViTien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Quản lý nhiều ví (Tiền mặt, Ngân hàng...)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7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DanhMuc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Phân loại Thu nhập / Chi tiêu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GiaoDich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Lưu vết số tiền, ngày giờ, ví, danh mục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NganSach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Đặt giới hạn chi tiêu theo tháng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17"/>
          <p:cNvSpPr/>
          <p:nvPr/>
        </p:nvSpPr>
        <p:spPr>
          <a:xfrm>
            <a:off x="571500" y="3303240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130028" y="3303240"/>
            <a:ext cx="377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3872805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130028" y="3872805"/>
            <a:ext cx="377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71500" y="4442370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130028" y="4442370"/>
            <a:ext cx="377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5011935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130028" y="5011935"/>
            <a:ext cx="377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5581501"/>
            <a:ext cx="1558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130028" y="5581501"/>
            <a:ext cx="377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CƠ SỞ DỮ LIỆU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873700" y="2157400"/>
            <a:ext cx="5165025" cy="35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47875"/>
            <a:ext cx="5010150" cy="38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10350" y="2068225"/>
            <a:ext cx="5010150" cy="380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6183175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Hệ thống xác thực qua Login, trả về </a:t>
            </a:r>
            <a:r>
              <a:rPr lang="en-US" sz="1800" b="1" i="1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MaTK</a:t>
            </a:r>
            <a:r>
              <a:rPr lang="en-US" sz="1800" b="0" i="1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và </a:t>
            </a:r>
            <a:r>
              <a:rPr lang="en-US" sz="1800" b="1" i="1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VaiTro</a:t>
            </a:r>
            <a:r>
              <a:rPr lang="en-US" sz="1800" b="0" i="1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để điều hướng giao diện.</a:t>
            </a:r>
            <a:endParaRPr sz="1800"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2990850"/>
            <a:ext cx="466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  <a:endParaRPr sz="2200"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67400" y="32099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6896100" y="2990850"/>
            <a:ext cx="466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sz="2200"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23717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942975" y="3419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047750" y="3419475"/>
            <a:ext cx="42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Quản lý toàn bộ tài khoản</a:t>
            </a:r>
            <a:endParaRPr sz="2000"/>
          </a:p>
        </p:txBody>
      </p:sp>
      <p:sp>
        <p:nvSpPr>
          <p:cNvPr id="180" name="Google Shape;180;p18"/>
          <p:cNvSpPr txBox="1"/>
          <p:nvPr/>
        </p:nvSpPr>
        <p:spPr>
          <a:xfrm>
            <a:off x="942975" y="3724275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18"/>
          <p:cNvSpPr txBox="1"/>
          <p:nvPr/>
        </p:nvSpPr>
        <p:spPr>
          <a:xfrm>
            <a:off x="900263" y="3817200"/>
            <a:ext cx="19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047750" y="3817200"/>
            <a:ext cx="42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Theo dõi hệ thống</a:t>
            </a:r>
            <a:endParaRPr sz="2000"/>
          </a:p>
        </p:txBody>
      </p:sp>
      <p:pic>
        <p:nvPicPr>
          <p:cNvPr id="183" name="Google Shape;183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896100" y="23717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6981825" y="3419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7086600" y="3419475"/>
            <a:ext cx="42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Quản lý thu chi cá nhân</a:t>
            </a:r>
            <a:endParaRPr sz="2000"/>
          </a:p>
        </p:txBody>
      </p:sp>
      <p:sp>
        <p:nvSpPr>
          <p:cNvPr id="186" name="Google Shape;186;p18"/>
          <p:cNvSpPr txBox="1"/>
          <p:nvPr/>
        </p:nvSpPr>
        <p:spPr>
          <a:xfrm rot="10800000" flipH="1">
            <a:off x="6981825" y="389398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7102200" y="3817200"/>
            <a:ext cx="42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Quản lý ví &amp; ngân sách</a:t>
            </a:r>
            <a:endParaRPr sz="2000"/>
          </a:p>
        </p:txBody>
      </p:sp>
      <p:sp>
        <p:nvSpPr>
          <p:cNvPr id="188" name="Google Shape;188;p18"/>
          <p:cNvSpPr txBox="1"/>
          <p:nvPr/>
        </p:nvSpPr>
        <p:spPr>
          <a:xfrm>
            <a:off x="6981825" y="460396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7086600" y="4221863"/>
            <a:ext cx="42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Quản lý danh mục</a:t>
            </a:r>
            <a:endParaRPr sz="2000"/>
          </a:p>
        </p:txBody>
      </p:sp>
      <p:sp>
        <p:nvSpPr>
          <p:cNvPr id="190" name="Google Shape;190;p18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ĐĂNG NHẬP &amp; PHÂN QUYỀN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7086600" y="5000188"/>
            <a:ext cx="42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Xem báo cáo thống kê</a:t>
            </a:r>
            <a:endParaRPr sz="2000"/>
          </a:p>
        </p:txBody>
      </p:sp>
      <p:sp>
        <p:nvSpPr>
          <p:cNvPr id="193" name="Google Shape;193;p18"/>
          <p:cNvSpPr txBox="1"/>
          <p:nvPr/>
        </p:nvSpPr>
        <p:spPr>
          <a:xfrm>
            <a:off x="6981813" y="4248975"/>
            <a:ext cx="333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102200" y="4611038"/>
            <a:ext cx="42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Quản lý giao dịch</a:t>
            </a:r>
            <a:endParaRPr sz="2000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 rot="10800000" flipH="1">
            <a:off x="6939075" y="5038585"/>
            <a:ext cx="19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08750"/>
            <a:ext cx="5334000" cy="301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008750"/>
            <a:ext cx="5334000" cy="29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857250" y="2300972"/>
            <a:ext cx="500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Quản lý Ví</a:t>
            </a:r>
            <a:endParaRPr sz="2200"/>
          </a:p>
        </p:txBody>
      </p:sp>
      <p:sp>
        <p:nvSpPr>
          <p:cNvPr id="204" name="Google Shape;204;p19"/>
          <p:cNvSpPr txBox="1"/>
          <p:nvPr/>
        </p:nvSpPr>
        <p:spPr>
          <a:xfrm>
            <a:off x="857250" y="3054697"/>
            <a:ext cx="4762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Hỗ trợ tạo nhiều ví khác nhau (Ví chính, Thẻ tín dụng, Tiết kiệm).</a:t>
            </a:r>
            <a:endParaRPr sz="2000"/>
          </a:p>
        </p:txBody>
      </p:sp>
      <p:sp>
        <p:nvSpPr>
          <p:cNvPr id="205" name="Google Shape;205;p19"/>
          <p:cNvSpPr txBox="1"/>
          <p:nvPr/>
        </p:nvSpPr>
        <p:spPr>
          <a:xfrm>
            <a:off x="857250" y="4098572"/>
            <a:ext cx="47625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Thuộc tính: Tên ví, Số dư ban đầu, Loại tiền.</a:t>
            </a:r>
            <a:endParaRPr sz="1800"/>
          </a:p>
        </p:txBody>
      </p:sp>
      <p:sp>
        <p:nvSpPr>
          <p:cNvPr id="206" name="Google Shape;206;p19"/>
          <p:cNvSpPr txBox="1"/>
          <p:nvPr/>
        </p:nvSpPr>
        <p:spPr>
          <a:xfrm>
            <a:off x="6572250" y="2268322"/>
            <a:ext cx="500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Danh mục</a:t>
            </a:r>
            <a:endParaRPr sz="2200"/>
          </a:p>
        </p:txBody>
      </p:sp>
      <p:sp>
        <p:nvSpPr>
          <p:cNvPr id="207" name="Google Shape;207;p19"/>
          <p:cNvSpPr txBox="1"/>
          <p:nvPr/>
        </p:nvSpPr>
        <p:spPr>
          <a:xfrm>
            <a:off x="6572250" y="3054697"/>
            <a:ext cx="4762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Phân loại rõ ràng thành 2 nhóm chính: </a:t>
            </a:r>
            <a:r>
              <a:rPr lang="en-US" sz="20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Thu</a:t>
            </a: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và </a:t>
            </a:r>
            <a:r>
              <a:rPr lang="en-US" sz="20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Chi</a:t>
            </a: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</a:t>
            </a:r>
            <a:endParaRPr sz="2000"/>
          </a:p>
        </p:txBody>
      </p:sp>
      <p:sp>
        <p:nvSpPr>
          <p:cNvPr id="208" name="Google Shape;208;p19"/>
          <p:cNvSpPr txBox="1"/>
          <p:nvPr/>
        </p:nvSpPr>
        <p:spPr>
          <a:xfrm>
            <a:off x="6572250" y="4098572"/>
            <a:ext cx="47625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Ví dụ: Ăn uống, Lương, Mua sắm, Di chuyển.</a:t>
            </a:r>
            <a:endParaRPr sz="1800"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235602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72250" y="235602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VÍ TIỀN &amp; DANH MỤC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573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614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443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" y="52720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257802" y="1085850"/>
            <a:ext cx="5323900" cy="30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1095375" y="1995487"/>
            <a:ext cx="31338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Chọn loại giao dịch (Thu hoặc Chi)</a:t>
            </a:r>
            <a:endParaRPr sz="1800"/>
          </a:p>
        </p:txBody>
      </p:sp>
      <p:sp>
        <p:nvSpPr>
          <p:cNvPr id="225" name="Google Shape;225;p20"/>
          <p:cNvSpPr txBox="1"/>
          <p:nvPr/>
        </p:nvSpPr>
        <p:spPr>
          <a:xfrm>
            <a:off x="1095375" y="2824162"/>
            <a:ext cx="31812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Nhập số tiền, ngày tháng, nội dung</a:t>
            </a:r>
            <a:endParaRPr sz="1800"/>
          </a:p>
        </p:txBody>
      </p:sp>
      <p:sp>
        <p:nvSpPr>
          <p:cNvPr id="226" name="Google Shape;226;p20"/>
          <p:cNvSpPr txBox="1"/>
          <p:nvPr/>
        </p:nvSpPr>
        <p:spPr>
          <a:xfrm>
            <a:off x="1095375" y="3652837"/>
            <a:ext cx="33339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Chọn Ví tiền và Danh mục tương ứng</a:t>
            </a:r>
            <a:endParaRPr sz="1800"/>
          </a:p>
        </p:txBody>
      </p:sp>
      <p:sp>
        <p:nvSpPr>
          <p:cNvPr id="227" name="Google Shape;227;p20"/>
          <p:cNvSpPr txBox="1"/>
          <p:nvPr/>
        </p:nvSpPr>
        <p:spPr>
          <a:xfrm>
            <a:off x="1095375" y="4481512"/>
            <a:ext cx="28005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Xử lý: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Kiểm tra số dư (nếu Chi)</a:t>
            </a:r>
            <a:endParaRPr sz="1800"/>
          </a:p>
        </p:txBody>
      </p:sp>
      <p:sp>
        <p:nvSpPr>
          <p:cNvPr id="228" name="Google Shape;228;p20"/>
          <p:cNvSpPr txBox="1"/>
          <p:nvPr/>
        </p:nvSpPr>
        <p:spPr>
          <a:xfrm>
            <a:off x="1095375" y="5310187"/>
            <a:ext cx="30672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Cập nhật số dư ví &amp; Lưu Database</a:t>
            </a:r>
            <a:endParaRPr sz="1800"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653462" y="4527946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NGHIỆP VỤ THU / CHI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605337"/>
            <a:ext cx="110490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1738312"/>
            <a:ext cx="53816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38875" y="1738312"/>
            <a:ext cx="538162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781050" y="5005387"/>
            <a:ext cx="10629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1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SQL Transaction: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Sử dụng Transaction trong Stored Procedure để đảm bảo nếu một bước lỗi, toàn bộ quá trình sẽ Rollback, tránh sai lệch số dư ví.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857250" y="2024062"/>
            <a:ext cx="505063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Sửa giao dịch</a:t>
            </a:r>
            <a:endParaRPr lang="en-US" sz="1800" b="1" i="0" u="none" strike="noStrike" cap="none">
              <a:solidFill>
                <a:srgbClr val="00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857250" y="24907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1. Hoàn tác số tiền cũ vào ví.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857250" y="29860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2. Áp dụng số tiền mới.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857250" y="34813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3. Lưu thay đổi.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524625" y="2024062"/>
            <a:ext cx="505063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Xóa giao dịch</a:t>
            </a:r>
            <a:endParaRPr lang="en-US" sz="1800" b="1" i="0" u="none" strike="noStrike" cap="none">
              <a:solidFill>
                <a:srgbClr val="00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524625" y="249078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Hệ thống tự động cộng/trừ lại số dư ví để đảm bảo tiền không bị thất thoát sau khi xóa bản ghi.</a:t>
            </a:r>
            <a:endParaRPr lang="en-US" sz="15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47" name="Google Shape;247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20431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24625" y="20431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81050" y="506253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ĐẢM BẢO TÍNH NHẤT QUÁN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26717"/>
            <a:ext cx="5334000" cy="69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924935"/>
            <a:ext cx="5334000" cy="963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926965"/>
            <a:ext cx="5334000" cy="95186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71500" y="2036117"/>
            <a:ext cx="53340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Thiết lập hạn mức chi tiêu theo tháng/năm.</a:t>
            </a:r>
            <a:endParaRPr lang="en-US" sz="20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61" name="Google Shape;261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524750" y="2340610"/>
            <a:ext cx="3493770" cy="29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47700" y="3053715"/>
            <a:ext cx="5132070" cy="66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81050" y="41360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81050" y="48885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NGÂN SÁCH &amp; CẢNH BÁO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83272"/>
            <a:ext cx="11049000" cy="291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1759297"/>
            <a:ext cx="355595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17950" y="1759297"/>
            <a:ext cx="355595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64400" y="1759297"/>
            <a:ext cx="3556099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1996975" y="1968963"/>
            <a:ext cx="1028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TỔNG THU</a:t>
            </a:r>
            <a:endParaRPr lang="en-US" sz="1050" b="0" i="0" u="none" strike="noStrike" cap="none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762000" y="2140297"/>
            <a:ext cx="3174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ECC7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+ 50,000,000đ</a:t>
            </a:r>
            <a:endParaRPr lang="en-US" sz="2400" b="1" i="0" u="none" strike="noStrike" cap="none">
              <a:solidFill>
                <a:srgbClr val="2ECC7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5767238" y="1968847"/>
            <a:ext cx="6572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TỔNG CHI</a:t>
            </a:r>
            <a:endParaRPr lang="en-US" sz="1050" b="0" i="0" u="none" strike="noStrike" cap="none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4508450" y="2140297"/>
            <a:ext cx="3174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F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- 32,500,000đ</a:t>
            </a:r>
            <a:endParaRPr lang="en-US" sz="2400" b="1" i="0" u="none" strike="noStrike" cap="none">
              <a:solidFill>
                <a:srgbClr val="EF4444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9328100" y="1968847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SỐ DƯ THỰC TẾ</a:t>
            </a:r>
            <a:endParaRPr lang="en-US" sz="1050" b="0" i="0" u="none" strike="noStrike" cap="none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8254900" y="2140297"/>
            <a:ext cx="3175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17,500,000đ</a:t>
            </a:r>
            <a:endParaRPr lang="en-US" sz="2400" b="1" i="0" u="none" strike="noStrike" cap="none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571500" y="3235672"/>
            <a:ext cx="5334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Biểu đồ chi theo Danh mục</a:t>
            </a:r>
            <a:endParaRPr lang="en-US" sz="12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83" name="Google Shape;283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604367" y="3574702"/>
            <a:ext cx="3268116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THỐNG KÊ &amp; BÁO CÁO</a:t>
            </a:r>
            <a:endParaRPr lang="en-US" sz="3300" b="1" i="0" u="none" strike="noStrike" cap="none">
              <a:solidFill>
                <a:srgbClr val="00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33500" y="1600200"/>
            <a:ext cx="4572000" cy="1640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600200"/>
            <a:ext cx="4572000" cy="1640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495300" y="7620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TỔNG KẾT ĐỒ ÁN</a:t>
            </a:r>
            <a:endParaRPr lang="en-US" sz="3600" b="1" i="0" u="none" strike="noStrike" cap="none">
              <a:solidFill>
                <a:srgbClr val="2ECC7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95300" y="5121155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XIN CẢM ƠN!</a:t>
            </a:r>
            <a:endParaRPr lang="en-US" sz="42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762000" y="5930780"/>
            <a:ext cx="106680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Thầy ( cô ) và các bạn đã lắng nghe bài thuyết trình.</a:t>
            </a:r>
            <a:endParaRPr lang="en-US" sz="180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97" name="Google Shape;297;p2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267950" y="5537080"/>
            <a:ext cx="1428750" cy="83641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1619250" y="1885950"/>
            <a:ext cx="420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Kết quả</a:t>
            </a:r>
            <a:endParaRPr sz="2200"/>
          </a:p>
        </p:txBody>
      </p:sp>
      <p:sp>
        <p:nvSpPr>
          <p:cNvPr id="299" name="Google Shape;299;p24"/>
          <p:cNvSpPr txBox="1"/>
          <p:nvPr/>
        </p:nvSpPr>
        <p:spPr>
          <a:xfrm>
            <a:off x="1619250" y="2314575"/>
            <a:ext cx="4000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Ứng dụng chạy ổn định, xử lý giao dịch chính xác, báo cáo trực quan.</a:t>
            </a:r>
            <a:endParaRPr sz="2000"/>
          </a:p>
        </p:txBody>
      </p:sp>
      <p:sp>
        <p:nvSpPr>
          <p:cNvPr id="300" name="Google Shape;300;p24"/>
          <p:cNvSpPr txBox="1"/>
          <p:nvPr/>
        </p:nvSpPr>
        <p:spPr>
          <a:xfrm>
            <a:off x="6572250" y="1834150"/>
            <a:ext cx="420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Phát triển</a:t>
            </a:r>
            <a:endParaRPr sz="2200"/>
          </a:p>
        </p:txBody>
      </p:sp>
      <p:sp>
        <p:nvSpPr>
          <p:cNvPr id="301" name="Google Shape;301;p24"/>
          <p:cNvSpPr txBox="1"/>
          <p:nvPr/>
        </p:nvSpPr>
        <p:spPr>
          <a:xfrm>
            <a:off x="6572250" y="2314575"/>
            <a:ext cx="4000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Nâng cấp App Mobile, đồng bộ Cloud và tích hợp AI gợi ý chi tiêu.</a:t>
            </a:r>
            <a:endParaRPr sz="2000"/>
          </a:p>
        </p:txBody>
      </p:sp>
      <p:pic>
        <p:nvPicPr>
          <p:cNvPr id="302" name="Google Shape;302;p2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619250" y="19050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572250" y="19050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2619</Words>
  <Application>WPS Presentation</Application>
  <PresentationFormat/>
  <Paragraphs>180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Montserrat</vt:lpstr>
      <vt:lpstr>Inter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haida_cxpflk1</cp:lastModifiedBy>
  <cp:revision>3</cp:revision>
  <dcterms:created xsi:type="dcterms:W3CDTF">2026-05-29T02:08:17Z</dcterms:created>
  <dcterms:modified xsi:type="dcterms:W3CDTF">2026-05-29T02:26:05Z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44ED0B4F261147D8ABFABCE325DD13E2_12</vt:lpwstr>
  </property>
  <property fmtid="{D5CDD505-2E9C-101B-9397-08002B2CF9AE}" pid="3" name="KSOProductBuildVer">
    <vt:lpwstr>1033-12.1.0.26372</vt:lpwstr>
  </property>
</Properties>
</file>